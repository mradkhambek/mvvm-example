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57" r:id="rId5"/>
    <p:sldId id="259" r:id="rId6"/>
    <p:sldId id="260" r:id="rId7"/>
    <p:sldId id="261" r:id="rId8"/>
    <p:sldId id="263" r:id="rId9"/>
    <p:sldId id="264" r:id="rId10"/>
    <p:sldId id="267" r:id="rId11"/>
    <p:sldId id="268" r:id="rId12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B3BE"/>
    <a:srgbClr val="44648A"/>
    <a:srgbClr val="1C212E"/>
    <a:srgbClr val="3A5B82"/>
    <a:srgbClr val="1A3662"/>
    <a:srgbClr val="26446F"/>
    <a:srgbClr val="0C1220"/>
    <a:srgbClr val="1F2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cover-android-apps-mvvm-with-clean-architecture-ce042b0da370a289e0ee95fd997f25c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7945" y="-86995"/>
            <a:ext cx="13026390" cy="7032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-patter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40" y="947420"/>
            <a:ext cx="11145520" cy="4963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12800" y="487045"/>
            <a:ext cx="251015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4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</a:rPr>
              <a:t>MVVM  </a:t>
            </a:r>
            <a:r>
              <a:rPr lang="en-US" sz="4400">
                <a:solidFill>
                  <a:schemeClr val="bg1"/>
                </a:solidFill>
              </a:rPr>
              <a:t>?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97865" y="1631950"/>
            <a:ext cx="10160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</a:rPr>
              <a:t>MVVM - bu 1990 - yillarda Martin Fauler tomonidan o'ylab topilgan, MVP patterndan kelib chiqilgan pattern. MVVM (Model-View-ViewModel)  patterni o'zini yelkasiga yuklatilgan vazifani a'lo darajada bajaradi. Ya'ni biznes logikamizni va ko'rinish (ui, view) qatlamlarimizni ajratib yaxlit bir ko'rinishga olib keladi.</a:t>
            </a:r>
            <a:br>
              <a:rPr lang="en-US" sz="2800">
                <a:solidFill>
                  <a:schemeClr val="bg1"/>
                </a:solidFill>
              </a:rPr>
            </a:b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Bu esa bizga biznes logikamizni alohida, </a:t>
            </a:r>
            <a:r>
              <a:rPr lang="en-US" sz="2800">
                <a:solidFill>
                  <a:schemeClr val="bg1"/>
                </a:solidFill>
                <a:sym typeface="+mn-ea"/>
              </a:rPr>
              <a:t>ko'rinish (ui, view) qatlamimizni alohida testlay olishimizga sharoit yaratib beradi.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12800" y="487045"/>
            <a:ext cx="36029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4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</a:rPr>
              <a:t>VIEW (UI ?) </a:t>
            </a:r>
            <a:r>
              <a:rPr lang="en-US" sz="4400">
                <a:solidFill>
                  <a:schemeClr val="bg1"/>
                </a:solidFill>
              </a:rPr>
              <a:t>?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97865" y="1369060"/>
            <a:ext cx="10160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sym typeface="+mn-ea"/>
              </a:rPr>
              <a:t>UI - User interface. Yani foydalanuvchi va beznis logikamizni bog'lovchi ekranda chiziluvchi istalgan narsa.</a:t>
            </a:r>
            <a:br>
              <a:rPr lang="en-US" sz="2800">
                <a:solidFill>
                  <a:schemeClr val="bg1"/>
                </a:solidFill>
                <a:sym typeface="+mn-ea"/>
              </a:rPr>
            </a:br>
            <a:br>
              <a:rPr lang="en-US" sz="2800">
                <a:solidFill>
                  <a:schemeClr val="bg1"/>
                </a:solidFill>
                <a:sym typeface="+mn-ea"/>
              </a:rPr>
            </a:br>
            <a:r>
              <a:rPr lang="en-US" sz="2800">
                <a:solidFill>
                  <a:schemeClr val="bg1"/>
                </a:solidFill>
                <a:sym typeface="+mn-ea"/>
              </a:rPr>
              <a:t>View esa foydalanuvchi bilan beznis logikani bog'lovchi istalgan narsa yoki xolat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2" name="Picture 1" descr="1_ygwKSkZm99vBDJ8QFpXk4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4156075"/>
            <a:ext cx="2960370" cy="2220595"/>
          </a:xfrm>
          <a:prstGeom prst="rect">
            <a:avLst/>
          </a:prstGeom>
        </p:spPr>
      </p:pic>
      <p:pic>
        <p:nvPicPr>
          <p:cNvPr id="9" name="Picture 8" descr="Aminal-Terminal-emulator-for-Linu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970" y="4156075"/>
            <a:ext cx="3084195" cy="2220595"/>
          </a:xfrm>
          <a:prstGeom prst="rect">
            <a:avLst/>
          </a:prstGeom>
        </p:spPr>
      </p:pic>
      <p:pic>
        <p:nvPicPr>
          <p:cNvPr id="10" name="Picture 9" descr="down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50" y="4156075"/>
            <a:ext cx="3491865" cy="2220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12800" y="487045"/>
            <a:ext cx="234315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4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</a:rPr>
              <a:t>Model </a:t>
            </a:r>
            <a:r>
              <a:rPr lang="en-US" sz="4400">
                <a:solidFill>
                  <a:schemeClr val="bg1"/>
                </a:solidFill>
              </a:rPr>
              <a:t>?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97865" y="1631950"/>
            <a:ext cx="101600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sym typeface="+mn-ea"/>
              </a:rPr>
              <a:t>Model - Biznes logikamizga kerak bo'lgan ma'lumotlar. U hoh DTO (Data Transfer Objects), POJO (Plain Old Java Objects) bo'lsin hoh baza obyekti (entity) bo'lsin umumiy ma'lumot deb qo'ya qolamiz.</a:t>
            </a:r>
            <a:endParaRPr lang="en-US" sz="2800">
              <a:solidFill>
                <a:schemeClr val="bg1"/>
              </a:solidFill>
              <a:sym typeface="+mn-ea"/>
            </a:endParaRPr>
          </a:p>
          <a:p>
            <a:endParaRPr lang="en-US" sz="2800">
              <a:solidFill>
                <a:schemeClr val="bg1"/>
              </a:solidFill>
              <a:sym typeface="+mn-ea"/>
            </a:endParaRPr>
          </a:p>
          <a:p>
            <a:r>
              <a:rPr lang="en-US" sz="2800">
                <a:solidFill>
                  <a:schemeClr val="bg1"/>
                </a:solidFill>
                <a:sym typeface="+mn-ea"/>
              </a:rPr>
              <a:t>Bu ma'lumot qayerdan kelishi ko'rinish (ui, view) ga aloqador bo'lmasligi kerak. Yani kashe (cache) dan olinadimi, baza (database), yoki serverdan keladimi va hokozo ....</a:t>
            </a:r>
            <a:br>
              <a:rPr lang="en-US" sz="2800">
                <a:solidFill>
                  <a:schemeClr val="bg1"/>
                </a:solidFill>
                <a:sym typeface="+mn-ea"/>
              </a:rPr>
            </a:br>
            <a:br>
              <a:rPr lang="en-US" sz="2800">
                <a:solidFill>
                  <a:schemeClr val="bg1"/>
                </a:solidFill>
                <a:sym typeface="+mn-ea"/>
              </a:rPr>
            </a:br>
            <a:r>
              <a:rPr lang="en-US" sz="2800">
                <a:solidFill>
                  <a:schemeClr val="bg1"/>
                </a:solidFill>
                <a:sym typeface="+mn-ea"/>
              </a:rPr>
              <a:t>Bu ma'lumotlarning bazilari ko'rinish (ui, view) ga chiziladi.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5450" y="378460"/>
            <a:ext cx="372745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4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</a:rPr>
              <a:t>Why MVVM </a:t>
            </a:r>
            <a:r>
              <a:rPr lang="en-US" sz="4400">
                <a:solidFill>
                  <a:schemeClr val="bg1"/>
                </a:solidFill>
              </a:rPr>
              <a:t>?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25450" y="1443990"/>
            <a:ext cx="113614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sym typeface="+mn-ea"/>
              </a:rPr>
              <a:t>Bir qarashda MVVM MVP ga juda o'xshash. Har ikkisi View va Model-ni bir biriga bo'lgan aloqasini ta'minlab beradi. MVP-da presenter qatlam aynan qaysi view elementiga murojat qilayotganini biladi. Va ularning orasini bog'lash uchun abstrakt bo'lgan View qatlamini talab qiladi.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5290" y="4076700"/>
            <a:ext cx="1136142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sym typeface="+mn-ea"/>
              </a:rPr>
              <a:t>MVVM-da esa </a:t>
            </a:r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sym typeface="+mn-ea"/>
              </a:rPr>
              <a:t>event </a:t>
            </a:r>
            <a:r>
              <a:rPr lang="en-US" sz="2800">
                <a:solidFill>
                  <a:schemeClr val="bg1"/>
                </a:solidFill>
                <a:sym typeface="+mn-ea"/>
              </a:rPr>
              <a:t>lar yuboruvchisi sifatida ishlaydi. Va ViewModel har safar event yuborganda aynan qaysi view elementiga kerak ekanligini bilmaydi. Qulayligi esa bizga view ni anglatadigan view interface lari bizga kerak bo'lmaydi. 😉</a:t>
            </a:r>
            <a:endParaRPr lang="en-US" sz="28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415290" y="499110"/>
            <a:ext cx="1136142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sym typeface="+mn-ea"/>
              </a:rPr>
              <a:t>View ViewModel-ga turli harakatlar (action) haqida xabar beradi. Shunday qilib, MVVM View va ViewModel o'rtasida ikki tomonlama ma'lumotlarni alishishni ta'minlaydi va View va ViewModel o'rtasida juda ko'p harakatlar (action) bo'lishi mumkin. View-da ViewModel-ga havola mavjud, ammo ViewModel-da View haqida ma'lumot yo'q. </a:t>
            </a:r>
            <a:endParaRPr lang="en-US" sz="2800">
              <a:solidFill>
                <a:schemeClr val="bg1"/>
              </a:solidFill>
              <a:sym typeface="+mn-ea"/>
            </a:endParaRPr>
          </a:p>
          <a:p>
            <a:endParaRPr lang="en-US" sz="2800">
              <a:solidFill>
                <a:schemeClr val="bg1"/>
              </a:solidFill>
              <a:sym typeface="+mn-ea"/>
            </a:endParaRPr>
          </a:p>
          <a:p>
            <a:r>
              <a:rPr lang="en-US" sz="2800">
                <a:solidFill>
                  <a:schemeClr val="bg1"/>
                </a:solidFill>
                <a:sym typeface="+mn-ea"/>
              </a:rPr>
              <a:t>Lekin View ma'lumotlarni qanday tartibda foydalanuvchiga yetqazishni bilishi kerak, ammo View - ViewModel - ma'lumotlarni qayerdan olishini bilmaydi va unga bu qiziq ham emas. 😅 </a:t>
            </a:r>
            <a:endParaRPr lang="en-US" sz="2800">
              <a:solidFill>
                <a:schemeClr val="bg1"/>
              </a:solidFill>
              <a:sym typeface="+mn-ea"/>
            </a:endParaRPr>
          </a:p>
          <a:p>
            <a:endParaRPr lang="en-US" sz="2800">
              <a:solidFill>
                <a:schemeClr val="bg1"/>
              </a:solidFill>
              <a:sym typeface="+mn-ea"/>
            </a:endParaRPr>
          </a:p>
          <a:p>
            <a:r>
              <a:rPr lang="en-US" sz="2800">
                <a:solidFill>
                  <a:schemeClr val="bg1"/>
                </a:solidFill>
                <a:sym typeface="+mn-ea"/>
              </a:rPr>
              <a:t>P.s:</a:t>
            </a:r>
            <a:endParaRPr lang="en-US" sz="2800">
              <a:solidFill>
                <a:schemeClr val="bg1"/>
              </a:solidFill>
              <a:sym typeface="+mn-ea"/>
            </a:endParaRPr>
          </a:p>
          <a:p>
            <a:r>
              <a:rPr lang="en-US" sz="2800">
                <a:solidFill>
                  <a:schemeClr val="bg1"/>
                </a:solidFill>
                <a:sym typeface="+mn-ea"/>
              </a:rPr>
              <a:t>(O'zbekchada buncha qiyin - vaholanki boshqa til ham bilmayman =] ) 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415290" y="499110"/>
            <a:ext cx="74587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solidFill>
                  <a:schemeClr val="bg1"/>
                </a:solidFill>
                <a:sym typeface="+mn-ea"/>
              </a:rPr>
              <a:t>View ViewModel-ga turli harakatlar (action) haqida xabar beradi. Shunday qilib, MVVM View va ViewModel o'rtasida ikki tomonlama ma'lumotlarni alishishni ta'minlaydi va View va ViewModel o'rtasida juda ko'p harakatlar (action) bo'lishi mumkin. View-da ViewModel-ga havola mavjud, ammo ViewModel-da View haqida ma'lumot yo'q. </a:t>
            </a:r>
            <a:endParaRPr lang="en-US" sz="1600">
              <a:solidFill>
                <a:schemeClr val="bg1"/>
              </a:solidFill>
              <a:sym typeface="+mn-ea"/>
            </a:endParaRPr>
          </a:p>
          <a:p>
            <a:endParaRPr lang="en-US" sz="1600">
              <a:solidFill>
                <a:schemeClr val="bg1"/>
              </a:solidFill>
              <a:sym typeface="+mn-ea"/>
            </a:endParaRPr>
          </a:p>
          <a:p>
            <a:r>
              <a:rPr lang="en-US" sz="1600">
                <a:solidFill>
                  <a:schemeClr val="bg1"/>
                </a:solidFill>
                <a:sym typeface="+mn-ea"/>
              </a:rPr>
              <a:t>Lekin View ma'lumotlarni qanday tartibda foydalanuvchiga yetqazishni bilishi kerak, ammo View - ViewModel - ma'lumotlarni qayerdan olishini bilmaydi va unga bu qiziq ham emas. 😅 </a:t>
            </a:r>
            <a:endParaRPr lang="en-US" sz="1600">
              <a:solidFill>
                <a:schemeClr val="bg1"/>
              </a:solidFill>
              <a:sym typeface="+mn-ea"/>
            </a:endParaRPr>
          </a:p>
          <a:p>
            <a:endParaRPr lang="en-US" sz="1600">
              <a:solidFill>
                <a:schemeClr val="bg1"/>
              </a:solidFill>
              <a:sym typeface="+mn-ea"/>
            </a:endParaRPr>
          </a:p>
          <a:p>
            <a:r>
              <a:rPr lang="en-US" sz="1600">
                <a:solidFill>
                  <a:schemeClr val="bg1"/>
                </a:solidFill>
                <a:sym typeface="+mn-ea"/>
              </a:rPr>
              <a:t>P.s:</a:t>
            </a:r>
            <a:endParaRPr lang="en-US" sz="1600">
              <a:solidFill>
                <a:schemeClr val="bg1"/>
              </a:solidFill>
              <a:sym typeface="+mn-ea"/>
            </a:endParaRPr>
          </a:p>
          <a:p>
            <a:r>
              <a:rPr lang="en-US" sz="1600">
                <a:solidFill>
                  <a:schemeClr val="bg1"/>
                </a:solidFill>
                <a:sym typeface="+mn-ea"/>
              </a:rPr>
              <a:t>(O'zbekchada buncha qiyin - vaholanki boshqa til ham bilmayman =] ) </a:t>
            </a:r>
            <a:endParaRPr lang="en-US" sz="16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2" name="Picture 1" descr="toptal-blog-image-1543413671794-80993a19fea97477524763c908b50a7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925" y="3753485"/>
            <a:ext cx="11467465" cy="2701290"/>
          </a:xfrm>
          <a:prstGeom prst="rect">
            <a:avLst/>
          </a:prstGeom>
          <a:solidFill>
            <a:schemeClr val="tx2"/>
          </a:solidFill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6746240" y="910590"/>
            <a:ext cx="289052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40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  <a:sym typeface="+mn-ea"/>
              </a:rPr>
              <a:t>1. LifeCycle</a:t>
            </a:r>
            <a:endParaRPr lang="en-US" sz="4000"/>
          </a:p>
        </p:txBody>
      </p:sp>
      <p:sp>
        <p:nvSpPr>
          <p:cNvPr id="4" name="Text Box 3"/>
          <p:cNvSpPr txBox="1"/>
          <p:nvPr/>
        </p:nvSpPr>
        <p:spPr>
          <a:xfrm>
            <a:off x="6746240" y="1825625"/>
            <a:ext cx="285305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40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  <a:sym typeface="+mn-ea"/>
              </a:rPr>
              <a:t>2. LiveData</a:t>
            </a:r>
            <a:endParaRPr lang="en-US" sz="4000"/>
          </a:p>
        </p:txBody>
      </p:sp>
      <p:sp>
        <p:nvSpPr>
          <p:cNvPr id="5" name="Text Box 4"/>
          <p:cNvSpPr txBox="1"/>
          <p:nvPr/>
        </p:nvSpPr>
        <p:spPr>
          <a:xfrm>
            <a:off x="6783705" y="2740660"/>
            <a:ext cx="352488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40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  <a:sym typeface="+mn-ea"/>
              </a:rPr>
              <a:t>3. View Model</a:t>
            </a:r>
            <a:endParaRPr lang="en-US" sz="4000"/>
          </a:p>
        </p:txBody>
      </p:sp>
      <p:sp>
        <p:nvSpPr>
          <p:cNvPr id="6" name="Text Box 5"/>
          <p:cNvSpPr txBox="1"/>
          <p:nvPr/>
        </p:nvSpPr>
        <p:spPr>
          <a:xfrm>
            <a:off x="6746240" y="3596640"/>
            <a:ext cx="21640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40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  <a:sym typeface="+mn-ea"/>
              </a:rPr>
              <a:t>4. Room</a:t>
            </a:r>
            <a:endParaRPr lang="en-US" sz="4000"/>
          </a:p>
        </p:txBody>
      </p:sp>
      <p:pic>
        <p:nvPicPr>
          <p:cNvPr id="8" name="Picture 7" descr="FreeVector-Jigsaw-Puzz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1377315"/>
            <a:ext cx="5147310" cy="386524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783705" y="4802505"/>
            <a:ext cx="38773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4000">
                <a:solidFill>
                  <a:schemeClr val="bg1"/>
                </a:solidFill>
                <a:latin typeface="Poppins" panose="00000700000000000000" charset="0"/>
                <a:cs typeface="Poppins" panose="00000700000000000000" charset="0"/>
                <a:sym typeface="+mn-ea"/>
              </a:rPr>
              <a:t>Thread  change</a:t>
            </a:r>
            <a:endParaRPr lang="en-US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B3B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 descr="1_2fbHPly8RKnuPNe7m0VIB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534035"/>
            <a:ext cx="5296535" cy="4182745"/>
          </a:xfrm>
          <a:prstGeom prst="rect">
            <a:avLst/>
          </a:prstGeom>
        </p:spPr>
      </p:pic>
      <p:pic>
        <p:nvPicPr>
          <p:cNvPr id="2" name="Picture 1" descr="1_4URM3ESiTiOj79EeSpZpa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866005"/>
            <a:ext cx="7314565" cy="1778000"/>
          </a:xfrm>
          <a:prstGeom prst="rect">
            <a:avLst/>
          </a:prstGeom>
        </p:spPr>
      </p:pic>
      <p:pic>
        <p:nvPicPr>
          <p:cNvPr id="7" name="Picture 6" descr="1_642xLLnpZg1bLNnGi2dPx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545" y="1177290"/>
            <a:ext cx="6619875" cy="2896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2819</Words>
  <Application>WPS Presentation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Poppins</vt:lpstr>
      <vt:lpstr>苹方-简</vt:lpstr>
      <vt:lpstr>微软雅黑</vt:lpstr>
      <vt:lpstr>汉仪旗黑</vt:lpstr>
      <vt:lpstr>Arial Unicode MS</vt:lpstr>
      <vt:lpstr>Calibri Light</vt:lpstr>
      <vt:lpstr>Helvetica Neue</vt:lpstr>
      <vt:lpstr>Calibri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adkhambek</dc:creator>
  <cp:lastModifiedBy>adkhambek</cp:lastModifiedBy>
  <cp:revision>5</cp:revision>
  <dcterms:created xsi:type="dcterms:W3CDTF">2020-10-24T17:01:24Z</dcterms:created>
  <dcterms:modified xsi:type="dcterms:W3CDTF">2020-10-24T17:01:24Z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1033-2.7.0.4476</vt:lpwstr>
  </property>
</Properties>
</file>